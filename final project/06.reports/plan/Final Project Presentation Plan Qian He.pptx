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Open Sans Bold" charset="1" panose="00000000000000000000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7404362"/>
            <a:ext cx="19166202" cy="3086100"/>
            <a:chOff x="0" y="0"/>
            <a:chExt cx="504788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7889" cy="812800"/>
            </a:xfrm>
            <a:custGeom>
              <a:avLst/>
              <a:gdLst/>
              <a:ahLst/>
              <a:cxnLst/>
              <a:rect r="r" b="b" t="t" l="l"/>
              <a:pathLst>
                <a:path h="8128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792199"/>
                  </a:lnTo>
                  <a:cubicBezTo>
                    <a:pt x="5047889" y="803577"/>
                    <a:pt x="5038666" y="812800"/>
                    <a:pt x="5027288" y="812800"/>
                  </a:cubicBezTo>
                  <a:lnTo>
                    <a:pt x="20601" y="812800"/>
                  </a:lnTo>
                  <a:cubicBezTo>
                    <a:pt x="9223" y="812800"/>
                    <a:pt x="0" y="803577"/>
                    <a:pt x="0" y="7921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D3EB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478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7198109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6902834"/>
            <a:ext cx="18288000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6607559"/>
            <a:ext cx="18288000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9822" y="6312284"/>
            <a:ext cx="18248178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246211" y="6692564"/>
            <a:ext cx="1214563" cy="1011092"/>
            <a:chOff x="0" y="0"/>
            <a:chExt cx="839066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609067" y="6965575"/>
            <a:ext cx="488851" cy="423671"/>
          </a:xfrm>
          <a:custGeom>
            <a:avLst/>
            <a:gdLst/>
            <a:ahLst/>
            <a:cxnLst/>
            <a:rect r="r" b="b" t="t" l="l"/>
            <a:pathLst>
              <a:path h="423671" w="488851">
                <a:moveTo>
                  <a:pt x="0" y="0"/>
                </a:moveTo>
                <a:lnTo>
                  <a:pt x="488850" y="0"/>
                </a:lnTo>
                <a:lnTo>
                  <a:pt x="488850" y="423671"/>
                </a:lnTo>
                <a:lnTo>
                  <a:pt x="0" y="42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896490" y="1158425"/>
            <a:ext cx="2542488" cy="2090604"/>
            <a:chOff x="0" y="0"/>
            <a:chExt cx="849481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70217" y="2305300"/>
            <a:ext cx="2542488" cy="2090604"/>
            <a:chOff x="0" y="0"/>
            <a:chExt cx="849481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96490" y="3470276"/>
            <a:ext cx="2542488" cy="2090604"/>
            <a:chOff x="0" y="0"/>
            <a:chExt cx="849481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792970" y="1767643"/>
            <a:ext cx="749528" cy="759657"/>
          </a:xfrm>
          <a:custGeom>
            <a:avLst/>
            <a:gdLst/>
            <a:ahLst/>
            <a:cxnLst/>
            <a:rect r="r" b="b" t="t" l="l"/>
            <a:pathLst>
              <a:path h="759657" w="749528">
                <a:moveTo>
                  <a:pt x="0" y="0"/>
                </a:moveTo>
                <a:lnTo>
                  <a:pt x="749528" y="0"/>
                </a:lnTo>
                <a:lnTo>
                  <a:pt x="749528" y="759658"/>
                </a:lnTo>
                <a:lnTo>
                  <a:pt x="0" y="759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97254" y="2977878"/>
            <a:ext cx="711813" cy="762656"/>
          </a:xfrm>
          <a:custGeom>
            <a:avLst/>
            <a:gdLst/>
            <a:ahLst/>
            <a:cxnLst/>
            <a:rect r="r" b="b" t="t" l="l"/>
            <a:pathLst>
              <a:path h="762656" w="711813">
                <a:moveTo>
                  <a:pt x="0" y="0"/>
                </a:moveTo>
                <a:lnTo>
                  <a:pt x="711813" y="0"/>
                </a:lnTo>
                <a:lnTo>
                  <a:pt x="711813" y="762656"/>
                </a:lnTo>
                <a:lnTo>
                  <a:pt x="0" y="762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34061" y="4098293"/>
            <a:ext cx="867346" cy="728571"/>
          </a:xfrm>
          <a:custGeom>
            <a:avLst/>
            <a:gdLst/>
            <a:ahLst/>
            <a:cxnLst/>
            <a:rect r="r" b="b" t="t" l="l"/>
            <a:pathLst>
              <a:path h="728571" w="867346">
                <a:moveTo>
                  <a:pt x="0" y="0"/>
                </a:moveTo>
                <a:lnTo>
                  <a:pt x="867346" y="0"/>
                </a:lnTo>
                <a:lnTo>
                  <a:pt x="867346" y="728571"/>
                </a:lnTo>
                <a:lnTo>
                  <a:pt x="0" y="7285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514236"/>
            <a:ext cx="10240395" cy="433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1"/>
              </a:lnSpc>
            </a:pPr>
            <a:r>
              <a:rPr lang="en-US" sz="62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Majors, Earnings, and Employment in Maryland and Virginia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70462" y="8461483"/>
            <a:ext cx="25260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0462" y="8899787"/>
            <a:ext cx="25260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Qian He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4775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76546" y="4595998"/>
            <a:ext cx="3137097" cy="4662302"/>
            <a:chOff x="0" y="0"/>
            <a:chExt cx="826231" cy="1227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6231" cy="1227931"/>
            </a:xfrm>
            <a:custGeom>
              <a:avLst/>
              <a:gdLst/>
              <a:ahLst/>
              <a:cxnLst/>
              <a:rect r="r" b="b" t="t" l="l"/>
              <a:pathLst>
                <a:path h="1227931" w="826231">
                  <a:moveTo>
                    <a:pt x="0" y="0"/>
                  </a:moveTo>
                  <a:lnTo>
                    <a:pt x="826231" y="0"/>
                  </a:lnTo>
                  <a:lnTo>
                    <a:pt x="826231" y="1227931"/>
                  </a:lnTo>
                  <a:lnTo>
                    <a:pt x="0" y="1227931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6231" cy="126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076546" y="5805538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4213643" y="5805538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4213643" y="6902531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4213643" y="8001027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76546" y="6902531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76546" y="8001027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76546" y="1626153"/>
            <a:ext cx="8115300" cy="2562910"/>
            <a:chOff x="0" y="0"/>
            <a:chExt cx="1257272" cy="397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7272" cy="397062"/>
            </a:xfrm>
            <a:custGeom>
              <a:avLst/>
              <a:gdLst/>
              <a:ahLst/>
              <a:cxnLst/>
              <a:rect r="r" b="b" t="t" l="l"/>
              <a:pathLst>
                <a:path h="397062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375120"/>
                  </a:lnTo>
                  <a:cubicBezTo>
                    <a:pt x="1257272" y="380939"/>
                    <a:pt x="1254961" y="386520"/>
                    <a:pt x="1250846" y="390635"/>
                  </a:cubicBezTo>
                  <a:cubicBezTo>
                    <a:pt x="1246731" y="394750"/>
                    <a:pt x="1241150" y="397062"/>
                    <a:pt x="1235331" y="397062"/>
                  </a:cubicBezTo>
                  <a:lnTo>
                    <a:pt x="21942" y="397062"/>
                  </a:lnTo>
                  <a:cubicBezTo>
                    <a:pt x="16122" y="397062"/>
                    <a:pt x="10541" y="394750"/>
                    <a:pt x="6427" y="390635"/>
                  </a:cubicBezTo>
                  <a:cubicBezTo>
                    <a:pt x="2312" y="386520"/>
                    <a:pt x="0" y="380939"/>
                    <a:pt x="0" y="375120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548" r="0" b="-5554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77931" y="1990694"/>
            <a:ext cx="6485876" cy="2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77931" y="5464201"/>
            <a:ext cx="6023738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2024 American Community Survey (ACS) Public Use Microdata Sample (PUMS) person-level data for Maryland and Virginia.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U.S. Census Bureau.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74142" y="5022870"/>
            <a:ext cx="2304687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Period: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1945" y="5022870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  MD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1945" y="6118360"/>
            <a:ext cx="374065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62777 Observations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01945" y="7178756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Variables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01945" y="8315352"/>
            <a:ext cx="3465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Primary Dataset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4142" y="6118360"/>
            <a:ext cx="2304687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Size: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4142" y="7216856"/>
            <a:ext cx="2661229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ain Variables: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4142" y="8315352"/>
            <a:ext cx="2661229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 Type: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4775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76546" y="4595998"/>
            <a:ext cx="3137097" cy="4662302"/>
            <a:chOff x="0" y="0"/>
            <a:chExt cx="826231" cy="1227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6231" cy="1227931"/>
            </a:xfrm>
            <a:custGeom>
              <a:avLst/>
              <a:gdLst/>
              <a:ahLst/>
              <a:cxnLst/>
              <a:rect r="r" b="b" t="t" l="l"/>
              <a:pathLst>
                <a:path h="1227931" w="826231">
                  <a:moveTo>
                    <a:pt x="0" y="0"/>
                  </a:moveTo>
                  <a:lnTo>
                    <a:pt x="826231" y="0"/>
                  </a:lnTo>
                  <a:lnTo>
                    <a:pt x="826231" y="1227931"/>
                  </a:lnTo>
                  <a:lnTo>
                    <a:pt x="0" y="1227931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6231" cy="126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076546" y="5805538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4213643" y="5805538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4213643" y="6902531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4213643" y="8001027"/>
            <a:ext cx="4420735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76546" y="6902531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76546" y="8001027"/>
            <a:ext cx="313709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76546" y="1626153"/>
            <a:ext cx="8115300" cy="2562910"/>
            <a:chOff x="0" y="0"/>
            <a:chExt cx="1257272" cy="397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7272" cy="397062"/>
            </a:xfrm>
            <a:custGeom>
              <a:avLst/>
              <a:gdLst/>
              <a:ahLst/>
              <a:cxnLst/>
              <a:rect r="r" b="b" t="t" l="l"/>
              <a:pathLst>
                <a:path h="397062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375120"/>
                  </a:lnTo>
                  <a:cubicBezTo>
                    <a:pt x="1257272" y="380939"/>
                    <a:pt x="1254961" y="386520"/>
                    <a:pt x="1250846" y="390635"/>
                  </a:cubicBezTo>
                  <a:cubicBezTo>
                    <a:pt x="1246731" y="394750"/>
                    <a:pt x="1241150" y="397062"/>
                    <a:pt x="1235331" y="397062"/>
                  </a:cubicBezTo>
                  <a:lnTo>
                    <a:pt x="21942" y="397062"/>
                  </a:lnTo>
                  <a:cubicBezTo>
                    <a:pt x="16122" y="397062"/>
                    <a:pt x="10541" y="394750"/>
                    <a:pt x="6427" y="390635"/>
                  </a:cubicBezTo>
                  <a:cubicBezTo>
                    <a:pt x="2312" y="386520"/>
                    <a:pt x="0" y="380939"/>
                    <a:pt x="0" y="375120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548" r="0" b="-5554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77931" y="1990694"/>
            <a:ext cx="6485876" cy="2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77931" y="4397510"/>
            <a:ext cx="6023738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variables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Annual earnings (WAGP), college major (FOD1P), sex (SEX), age (AGEP), education (SCHL), employment status (ESR), usual weekly work hours (WKHP), and state.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challenges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The data contain coded categories, missing values, unequal sample sizes across majors, and complex survey weights.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74142" y="5022870"/>
            <a:ext cx="2304687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Period: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1945" y="5022870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   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01945" y="6118360"/>
            <a:ext cx="374065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89404 Observations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01945" y="7178756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Variables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01945" y="8315352"/>
            <a:ext cx="346576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Secondary Dataset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4142" y="6118360"/>
            <a:ext cx="2304687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Size: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4142" y="7216856"/>
            <a:ext cx="2661229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ain Variables: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4142" y="8315352"/>
            <a:ext cx="2661229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 Type: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53725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10102" y="5969550"/>
            <a:ext cx="6636092" cy="1645235"/>
            <a:chOff x="0" y="0"/>
            <a:chExt cx="1747777" cy="433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92389" y="4960588"/>
            <a:ext cx="6636092" cy="1645235"/>
            <a:chOff x="0" y="0"/>
            <a:chExt cx="1747777" cy="433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150315"/>
            <a:ext cx="6636092" cy="1645235"/>
            <a:chOff x="0" y="0"/>
            <a:chExt cx="1747777" cy="4333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92389" y="7027052"/>
            <a:ext cx="6636092" cy="1645235"/>
            <a:chOff x="0" y="0"/>
            <a:chExt cx="1747777" cy="4333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81048" y="5817150"/>
            <a:ext cx="1214563" cy="1011092"/>
            <a:chOff x="0" y="0"/>
            <a:chExt cx="839066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44737" y="4806058"/>
            <a:ext cx="1214563" cy="1011092"/>
            <a:chOff x="0" y="0"/>
            <a:chExt cx="839066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81048" y="7961840"/>
            <a:ext cx="1214563" cy="1011092"/>
            <a:chOff x="0" y="0"/>
            <a:chExt cx="839066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44737" y="6872523"/>
            <a:ext cx="1214563" cy="1011092"/>
            <a:chOff x="0" y="0"/>
            <a:chExt cx="839066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21089" y="1185874"/>
            <a:ext cx="6966911" cy="2562910"/>
            <a:chOff x="0" y="0"/>
            <a:chExt cx="1079357" cy="3970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357" cy="397062"/>
            </a:xfrm>
            <a:custGeom>
              <a:avLst/>
              <a:gdLst/>
              <a:ahLst/>
              <a:cxnLst/>
              <a:rect r="r" b="b" t="t" l="l"/>
              <a:pathLst>
                <a:path h="397062" w="1079357">
                  <a:moveTo>
                    <a:pt x="25559" y="0"/>
                  </a:moveTo>
                  <a:lnTo>
                    <a:pt x="1053798" y="0"/>
                  </a:lnTo>
                  <a:cubicBezTo>
                    <a:pt x="1067914" y="0"/>
                    <a:pt x="1079357" y="11443"/>
                    <a:pt x="1079357" y="25559"/>
                  </a:cubicBezTo>
                  <a:lnTo>
                    <a:pt x="1079357" y="371503"/>
                  </a:lnTo>
                  <a:cubicBezTo>
                    <a:pt x="1079357" y="378282"/>
                    <a:pt x="1076664" y="384783"/>
                    <a:pt x="1071871" y="389576"/>
                  </a:cubicBezTo>
                  <a:cubicBezTo>
                    <a:pt x="1067078" y="394369"/>
                    <a:pt x="1060577" y="397062"/>
                    <a:pt x="1053798" y="397062"/>
                  </a:cubicBezTo>
                  <a:lnTo>
                    <a:pt x="25559" y="397062"/>
                  </a:lnTo>
                  <a:cubicBezTo>
                    <a:pt x="11443" y="397062"/>
                    <a:pt x="0" y="385619"/>
                    <a:pt x="0" y="371503"/>
                  </a:cubicBezTo>
                  <a:lnTo>
                    <a:pt x="0" y="25559"/>
                  </a:lnTo>
                  <a:cubicBezTo>
                    <a:pt x="0" y="11443"/>
                    <a:pt x="11443" y="0"/>
                    <a:pt x="2555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0611" r="0" b="-4061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60318" y="1063692"/>
            <a:ext cx="6485876" cy="2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Objectives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21167" y="6076671"/>
            <a:ext cx="519560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Which college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majors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have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highest median earnings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in Maryland?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849134" y="4858300"/>
            <a:ext cx="519560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does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median wage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vary across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groups for male and female college graduates in Maryland?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521167" y="8102690"/>
            <a:ext cx="519560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do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median earnings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differ between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 and women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across the eight selected majors in Maryland?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849134" y="6921221"/>
            <a:ext cx="519560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do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earnings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differ between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 and women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in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four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majors with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largest samples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Maryland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030466" y="5076681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94155" y="5076681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30466" y="7143146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294155" y="7143146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1167" y="3336572"/>
            <a:ext cx="614362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To examine how college major and demographic characteristics relate to earnings and employment among college graduates in Maryland and Virginia.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030466" y="6087773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030466" y="8243435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69752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10102" y="5969550"/>
            <a:ext cx="6636092" cy="1645235"/>
            <a:chOff x="0" y="0"/>
            <a:chExt cx="1747777" cy="433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92389" y="4960588"/>
            <a:ext cx="6636092" cy="1645235"/>
            <a:chOff x="0" y="0"/>
            <a:chExt cx="1747777" cy="433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150315"/>
            <a:ext cx="6636092" cy="1645235"/>
            <a:chOff x="0" y="0"/>
            <a:chExt cx="1747777" cy="4333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92389" y="7027052"/>
            <a:ext cx="6636092" cy="2231248"/>
            <a:chOff x="0" y="0"/>
            <a:chExt cx="1747777" cy="5876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7777" cy="587654"/>
            </a:xfrm>
            <a:custGeom>
              <a:avLst/>
              <a:gdLst/>
              <a:ahLst/>
              <a:cxnLst/>
              <a:rect r="r" b="b" t="t" l="l"/>
              <a:pathLst>
                <a:path h="587654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552655"/>
                  </a:lnTo>
                  <a:cubicBezTo>
                    <a:pt x="1747777" y="571984"/>
                    <a:pt x="1732108" y="587654"/>
                    <a:pt x="1712778" y="587654"/>
                  </a:cubicBezTo>
                  <a:lnTo>
                    <a:pt x="34999" y="587654"/>
                  </a:lnTo>
                  <a:cubicBezTo>
                    <a:pt x="25717" y="587654"/>
                    <a:pt x="16815" y="583966"/>
                    <a:pt x="10251" y="577403"/>
                  </a:cubicBezTo>
                  <a:cubicBezTo>
                    <a:pt x="3687" y="570839"/>
                    <a:pt x="0" y="561937"/>
                    <a:pt x="0" y="552655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47777" cy="625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81048" y="5839291"/>
            <a:ext cx="1214563" cy="1011092"/>
            <a:chOff x="0" y="0"/>
            <a:chExt cx="839066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44737" y="4806058"/>
            <a:ext cx="1214563" cy="1011092"/>
            <a:chOff x="0" y="0"/>
            <a:chExt cx="839066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81048" y="7961840"/>
            <a:ext cx="1214563" cy="1011092"/>
            <a:chOff x="0" y="0"/>
            <a:chExt cx="839066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44737" y="6872523"/>
            <a:ext cx="1214563" cy="1011092"/>
            <a:chOff x="0" y="0"/>
            <a:chExt cx="839066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21089" y="1185874"/>
            <a:ext cx="6966911" cy="2562910"/>
            <a:chOff x="0" y="0"/>
            <a:chExt cx="1079357" cy="3970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357" cy="397062"/>
            </a:xfrm>
            <a:custGeom>
              <a:avLst/>
              <a:gdLst/>
              <a:ahLst/>
              <a:cxnLst/>
              <a:rect r="r" b="b" t="t" l="l"/>
              <a:pathLst>
                <a:path h="397062" w="1079357">
                  <a:moveTo>
                    <a:pt x="25559" y="0"/>
                  </a:moveTo>
                  <a:lnTo>
                    <a:pt x="1053798" y="0"/>
                  </a:lnTo>
                  <a:cubicBezTo>
                    <a:pt x="1067914" y="0"/>
                    <a:pt x="1079357" y="11443"/>
                    <a:pt x="1079357" y="25559"/>
                  </a:cubicBezTo>
                  <a:lnTo>
                    <a:pt x="1079357" y="371503"/>
                  </a:lnTo>
                  <a:cubicBezTo>
                    <a:pt x="1079357" y="378282"/>
                    <a:pt x="1076664" y="384783"/>
                    <a:pt x="1071871" y="389576"/>
                  </a:cubicBezTo>
                  <a:cubicBezTo>
                    <a:pt x="1067078" y="394369"/>
                    <a:pt x="1060577" y="397062"/>
                    <a:pt x="1053798" y="397062"/>
                  </a:cubicBezTo>
                  <a:lnTo>
                    <a:pt x="25559" y="397062"/>
                  </a:lnTo>
                  <a:cubicBezTo>
                    <a:pt x="11443" y="397062"/>
                    <a:pt x="0" y="385619"/>
                    <a:pt x="0" y="371503"/>
                  </a:cubicBezTo>
                  <a:lnTo>
                    <a:pt x="0" y="25559"/>
                  </a:lnTo>
                  <a:cubicBezTo>
                    <a:pt x="0" y="11443"/>
                    <a:pt x="11443" y="0"/>
                    <a:pt x="2555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0611" r="0" b="-4061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60318" y="1063692"/>
            <a:ext cx="6485876" cy="201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Objectives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87213" y="6047690"/>
            <a:ext cx="519560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does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gender earnings gap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across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majors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differ between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Maryland and Virginia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849134" y="4912963"/>
            <a:ext cx="519560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Is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still associated with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earnings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after accounting for major, sex, age, education, and work hours?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585445" y="8143135"/>
            <a:ext cx="519560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mean annual earnings 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significantly different between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college graduates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Maryland and Virginia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849134" y="7040213"/>
            <a:ext cx="5195603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are college major, sex, age, and state associated with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likelihood of employment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among college graduates in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Maryland and Virginia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who are in the labor force?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030466" y="5076681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94155" y="5076681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30466" y="7143146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294155" y="7143146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30466" y="6087773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30466" y="8243435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10102" y="3666369"/>
            <a:ext cx="6636092" cy="1645235"/>
            <a:chOff x="0" y="0"/>
            <a:chExt cx="1747777" cy="43331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47777" cy="433313"/>
            </a:xfrm>
            <a:custGeom>
              <a:avLst/>
              <a:gdLst/>
              <a:ahLst/>
              <a:cxnLst/>
              <a:rect r="r" b="b" t="t" l="l"/>
              <a:pathLst>
                <a:path h="433313" w="1747777">
                  <a:moveTo>
                    <a:pt x="34999" y="0"/>
                  </a:moveTo>
                  <a:lnTo>
                    <a:pt x="1712778" y="0"/>
                  </a:lnTo>
                  <a:cubicBezTo>
                    <a:pt x="1722060" y="0"/>
                    <a:pt x="1730963" y="3687"/>
                    <a:pt x="1737526" y="10251"/>
                  </a:cubicBezTo>
                  <a:cubicBezTo>
                    <a:pt x="1744090" y="16815"/>
                    <a:pt x="1747777" y="25717"/>
                    <a:pt x="1747777" y="34999"/>
                  </a:cubicBezTo>
                  <a:lnTo>
                    <a:pt x="1747777" y="398314"/>
                  </a:lnTo>
                  <a:cubicBezTo>
                    <a:pt x="1747777" y="407596"/>
                    <a:pt x="1744090" y="416498"/>
                    <a:pt x="1737526" y="423062"/>
                  </a:cubicBezTo>
                  <a:cubicBezTo>
                    <a:pt x="1730963" y="429626"/>
                    <a:pt x="1722060" y="433313"/>
                    <a:pt x="1712778" y="433313"/>
                  </a:cubicBezTo>
                  <a:lnTo>
                    <a:pt x="34999" y="433313"/>
                  </a:lnTo>
                  <a:cubicBezTo>
                    <a:pt x="15670" y="433313"/>
                    <a:pt x="0" y="417643"/>
                    <a:pt x="0" y="398314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747777" cy="471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781048" y="3579814"/>
            <a:ext cx="1214563" cy="1011092"/>
            <a:chOff x="0" y="0"/>
            <a:chExt cx="839066" cy="698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7030466" y="3866450"/>
            <a:ext cx="7157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87213" y="3626315"/>
            <a:ext cx="519560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How does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median earnings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for the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same majors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differ between </a:t>
            </a:r>
            <a:r>
              <a:rPr lang="en-US" sz="2499" b="true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Maryland and Virginia</a:t>
            </a: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2870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70720" y="3781864"/>
            <a:ext cx="3555113" cy="2452468"/>
            <a:chOff x="0" y="0"/>
            <a:chExt cx="936326" cy="645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6326" cy="645918"/>
            </a:xfrm>
            <a:custGeom>
              <a:avLst/>
              <a:gdLst/>
              <a:ahLst/>
              <a:cxnLst/>
              <a:rect r="r" b="b" t="t" l="l"/>
              <a:pathLst>
                <a:path h="645918" w="936326">
                  <a:moveTo>
                    <a:pt x="0" y="0"/>
                  </a:moveTo>
                  <a:lnTo>
                    <a:pt x="936326" y="0"/>
                  </a:lnTo>
                  <a:lnTo>
                    <a:pt x="936326" y="645918"/>
                  </a:lnTo>
                  <a:lnTo>
                    <a:pt x="0" y="645918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6326" cy="68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99218" y="3781864"/>
            <a:ext cx="3555113" cy="2452468"/>
            <a:chOff x="0" y="0"/>
            <a:chExt cx="936326" cy="6459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6326" cy="645918"/>
            </a:xfrm>
            <a:custGeom>
              <a:avLst/>
              <a:gdLst/>
              <a:ahLst/>
              <a:cxnLst/>
              <a:rect r="r" b="b" t="t" l="l"/>
              <a:pathLst>
                <a:path h="645918" w="936326">
                  <a:moveTo>
                    <a:pt x="0" y="0"/>
                  </a:moveTo>
                  <a:lnTo>
                    <a:pt x="936326" y="0"/>
                  </a:lnTo>
                  <a:lnTo>
                    <a:pt x="936326" y="645918"/>
                  </a:lnTo>
                  <a:lnTo>
                    <a:pt x="0" y="645918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6326" cy="68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0720" y="6805832"/>
            <a:ext cx="3555113" cy="2452468"/>
            <a:chOff x="0" y="0"/>
            <a:chExt cx="936326" cy="6459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6326" cy="645918"/>
            </a:xfrm>
            <a:custGeom>
              <a:avLst/>
              <a:gdLst/>
              <a:ahLst/>
              <a:cxnLst/>
              <a:rect r="r" b="b" t="t" l="l"/>
              <a:pathLst>
                <a:path h="645918" w="936326">
                  <a:moveTo>
                    <a:pt x="0" y="0"/>
                  </a:moveTo>
                  <a:lnTo>
                    <a:pt x="936326" y="0"/>
                  </a:lnTo>
                  <a:lnTo>
                    <a:pt x="936326" y="645918"/>
                  </a:lnTo>
                  <a:lnTo>
                    <a:pt x="0" y="645918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6326" cy="68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99218" y="6805832"/>
            <a:ext cx="3555113" cy="2452468"/>
            <a:chOff x="0" y="0"/>
            <a:chExt cx="936326" cy="6459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6326" cy="645918"/>
            </a:xfrm>
            <a:custGeom>
              <a:avLst/>
              <a:gdLst/>
              <a:ahLst/>
              <a:cxnLst/>
              <a:rect r="r" b="b" t="t" l="l"/>
              <a:pathLst>
                <a:path h="645918" w="936326">
                  <a:moveTo>
                    <a:pt x="0" y="0"/>
                  </a:moveTo>
                  <a:lnTo>
                    <a:pt x="936326" y="0"/>
                  </a:lnTo>
                  <a:lnTo>
                    <a:pt x="936326" y="645918"/>
                  </a:lnTo>
                  <a:lnTo>
                    <a:pt x="0" y="645918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36326" cy="68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028700" y="5233547"/>
            <a:ext cx="3597133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157198" y="5233547"/>
            <a:ext cx="3597133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028700" y="8257515"/>
            <a:ext cx="3597133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157198" y="8257515"/>
            <a:ext cx="3597133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9287731" y="3726643"/>
            <a:ext cx="7971569" cy="5531657"/>
            <a:chOff x="0" y="0"/>
            <a:chExt cx="1235005" cy="8569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5005" cy="856998"/>
            </a:xfrm>
            <a:custGeom>
              <a:avLst/>
              <a:gdLst/>
              <a:ahLst/>
              <a:cxnLst/>
              <a:rect r="r" b="b" t="t" l="l"/>
              <a:pathLst>
                <a:path h="856998" w="1235005">
                  <a:moveTo>
                    <a:pt x="22337" y="0"/>
                  </a:moveTo>
                  <a:lnTo>
                    <a:pt x="1212667" y="0"/>
                  </a:lnTo>
                  <a:cubicBezTo>
                    <a:pt x="1218592" y="0"/>
                    <a:pt x="1224273" y="2353"/>
                    <a:pt x="1228462" y="6542"/>
                  </a:cubicBezTo>
                  <a:cubicBezTo>
                    <a:pt x="1232651" y="10732"/>
                    <a:pt x="1235005" y="16413"/>
                    <a:pt x="1235005" y="22337"/>
                  </a:cubicBezTo>
                  <a:lnTo>
                    <a:pt x="1235005" y="834661"/>
                  </a:lnTo>
                  <a:cubicBezTo>
                    <a:pt x="1235005" y="846998"/>
                    <a:pt x="1225004" y="856998"/>
                    <a:pt x="1212667" y="856998"/>
                  </a:cubicBezTo>
                  <a:lnTo>
                    <a:pt x="22337" y="856998"/>
                  </a:lnTo>
                  <a:cubicBezTo>
                    <a:pt x="16413" y="856998"/>
                    <a:pt x="10732" y="854645"/>
                    <a:pt x="6542" y="850456"/>
                  </a:cubicBezTo>
                  <a:cubicBezTo>
                    <a:pt x="2353" y="846267"/>
                    <a:pt x="0" y="840585"/>
                    <a:pt x="0" y="834661"/>
                  </a:cubicBezTo>
                  <a:lnTo>
                    <a:pt x="0" y="22337"/>
                  </a:lnTo>
                  <a:cubicBezTo>
                    <a:pt x="0" y="16413"/>
                    <a:pt x="2353" y="10732"/>
                    <a:pt x="6542" y="6542"/>
                  </a:cubicBezTo>
                  <a:cubicBezTo>
                    <a:pt x="10732" y="2353"/>
                    <a:pt x="16413" y="0"/>
                    <a:pt x="22337" y="0"/>
                  </a:cubicBezTo>
                  <a:close/>
                </a:path>
              </a:pathLst>
            </a:custGeom>
            <a:blipFill>
              <a:blip r:embed="rId2"/>
              <a:stretch>
                <a:fillRect l="-2044" t="0" r="-2044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341023" y="1975081"/>
            <a:ext cx="648587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Tools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5576" y="4172910"/>
            <a:ext cx="2885400" cy="77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sz="6000" b="true">
                <a:solidFill>
                  <a:srgbClr val="F7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5576" y="7149253"/>
            <a:ext cx="2885400" cy="50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sz="3900" b="true">
                <a:solidFill>
                  <a:srgbClr val="F7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GGPLOT2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34074" y="7158778"/>
            <a:ext cx="2885400" cy="52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4100" b="true">
                <a:solidFill>
                  <a:srgbClr val="F7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34074" y="4175613"/>
            <a:ext cx="2885400" cy="45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3500" b="true">
                <a:solidFill>
                  <a:srgbClr val="F7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TIDYVERSE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2870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58945" y="4191457"/>
            <a:ext cx="603860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 &amp; Mitigation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38607" y="1676832"/>
            <a:ext cx="11703477" cy="7131652"/>
            <a:chOff x="0" y="0"/>
            <a:chExt cx="3082397" cy="18782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2397" cy="1878295"/>
            </a:xfrm>
            <a:custGeom>
              <a:avLst/>
              <a:gdLst/>
              <a:ahLst/>
              <a:cxnLst/>
              <a:rect r="r" b="b" t="t" l="l"/>
              <a:pathLst>
                <a:path h="1878295" w="3082397">
                  <a:moveTo>
                    <a:pt x="19845" y="0"/>
                  </a:moveTo>
                  <a:lnTo>
                    <a:pt x="3062552" y="0"/>
                  </a:lnTo>
                  <a:cubicBezTo>
                    <a:pt x="3073512" y="0"/>
                    <a:pt x="3082397" y="8885"/>
                    <a:pt x="3082397" y="19845"/>
                  </a:cubicBezTo>
                  <a:lnTo>
                    <a:pt x="3082397" y="1858450"/>
                  </a:lnTo>
                  <a:cubicBezTo>
                    <a:pt x="3082397" y="1869410"/>
                    <a:pt x="3073512" y="1878295"/>
                    <a:pt x="3062552" y="1878295"/>
                  </a:cubicBezTo>
                  <a:lnTo>
                    <a:pt x="19845" y="1878295"/>
                  </a:lnTo>
                  <a:cubicBezTo>
                    <a:pt x="8885" y="1878295"/>
                    <a:pt x="0" y="1869410"/>
                    <a:pt x="0" y="1858450"/>
                  </a:cubicBezTo>
                  <a:lnTo>
                    <a:pt x="0" y="19845"/>
                  </a:lnTo>
                  <a:cubicBezTo>
                    <a:pt x="0" y="8885"/>
                    <a:pt x="8885" y="0"/>
                    <a:pt x="198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82397" cy="191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636708" y="3496315"/>
            <a:ext cx="10622592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636708" y="5242658"/>
            <a:ext cx="10622592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6636708" y="6985733"/>
            <a:ext cx="10622592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781510" y="2075540"/>
            <a:ext cx="7680576" cy="1096925"/>
            <a:chOff x="0" y="0"/>
            <a:chExt cx="4890839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90839" cy="698500"/>
            </a:xfrm>
            <a:custGeom>
              <a:avLst/>
              <a:gdLst/>
              <a:ahLst/>
              <a:cxnLst/>
              <a:rect r="r" b="b" t="t" l="l"/>
              <a:pathLst>
                <a:path h="698500" w="4890839">
                  <a:moveTo>
                    <a:pt x="4890839" y="349250"/>
                  </a:moveTo>
                  <a:lnTo>
                    <a:pt x="468763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87639" y="0"/>
                  </a:lnTo>
                  <a:lnTo>
                    <a:pt x="4890839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466223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81510" y="3821024"/>
            <a:ext cx="7680576" cy="1096925"/>
            <a:chOff x="0" y="0"/>
            <a:chExt cx="4890839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90839" cy="698500"/>
            </a:xfrm>
            <a:custGeom>
              <a:avLst/>
              <a:gdLst/>
              <a:ahLst/>
              <a:cxnLst/>
              <a:rect r="r" b="b" t="t" l="l"/>
              <a:pathLst>
                <a:path h="698500" w="4890839">
                  <a:moveTo>
                    <a:pt x="4890839" y="349250"/>
                  </a:moveTo>
                  <a:lnTo>
                    <a:pt x="468763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87639" y="0"/>
                  </a:lnTo>
                  <a:lnTo>
                    <a:pt x="4890839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38100"/>
              <a:ext cx="466223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81510" y="5657850"/>
            <a:ext cx="7680576" cy="1096925"/>
            <a:chOff x="0" y="0"/>
            <a:chExt cx="4890839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90839" cy="698500"/>
            </a:xfrm>
            <a:custGeom>
              <a:avLst/>
              <a:gdLst/>
              <a:ahLst/>
              <a:cxnLst/>
              <a:rect r="r" b="b" t="t" l="l"/>
              <a:pathLst>
                <a:path h="698500" w="4890839">
                  <a:moveTo>
                    <a:pt x="4890839" y="349250"/>
                  </a:moveTo>
                  <a:lnTo>
                    <a:pt x="468763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87639" y="0"/>
                  </a:lnTo>
                  <a:lnTo>
                    <a:pt x="4890839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38100"/>
              <a:ext cx="466223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81510" y="7214333"/>
            <a:ext cx="7680576" cy="1096925"/>
            <a:chOff x="0" y="0"/>
            <a:chExt cx="4890839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90839" cy="698500"/>
            </a:xfrm>
            <a:custGeom>
              <a:avLst/>
              <a:gdLst/>
              <a:ahLst/>
              <a:cxnLst/>
              <a:rect r="r" b="b" t="t" l="l"/>
              <a:pathLst>
                <a:path h="698500" w="4890839">
                  <a:moveTo>
                    <a:pt x="4890839" y="349250"/>
                  </a:moveTo>
                  <a:lnTo>
                    <a:pt x="468763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87639" y="0"/>
                  </a:lnTo>
                  <a:lnTo>
                    <a:pt x="4890839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38100"/>
              <a:ext cx="466223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411417" y="2371549"/>
            <a:ext cx="65149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Small sample sizes in some majors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284294" y="4134563"/>
            <a:ext cx="664204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Coded or missing data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623281" y="5972962"/>
            <a:ext cx="630306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Unstable model estimates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952848" y="7357208"/>
            <a:ext cx="580871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Interpretation limits: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636708" y="2371549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36708" y="4153540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36708" y="5784091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36708" y="7604858"/>
            <a:ext cx="23046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2B2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15663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2298" y="3710045"/>
            <a:ext cx="5121554" cy="4772631"/>
            <a:chOff x="0" y="0"/>
            <a:chExt cx="1257272" cy="1171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72" cy="1171616"/>
            </a:xfrm>
            <a:custGeom>
              <a:avLst/>
              <a:gdLst/>
              <a:ahLst/>
              <a:cxnLst/>
              <a:rect r="r" b="b" t="t" l="l"/>
              <a:pathLst>
                <a:path h="1171616" w="1257272">
                  <a:moveTo>
                    <a:pt x="34768" y="0"/>
                  </a:moveTo>
                  <a:lnTo>
                    <a:pt x="1222505" y="0"/>
                  </a:lnTo>
                  <a:cubicBezTo>
                    <a:pt x="1241706" y="0"/>
                    <a:pt x="1257272" y="15566"/>
                    <a:pt x="1257272" y="34768"/>
                  </a:cubicBezTo>
                  <a:lnTo>
                    <a:pt x="1257272" y="1136849"/>
                  </a:lnTo>
                  <a:cubicBezTo>
                    <a:pt x="1257272" y="1156050"/>
                    <a:pt x="1241706" y="1171616"/>
                    <a:pt x="1222505" y="1171616"/>
                  </a:cubicBezTo>
                  <a:lnTo>
                    <a:pt x="34768" y="1171616"/>
                  </a:lnTo>
                  <a:cubicBezTo>
                    <a:pt x="15566" y="1171616"/>
                    <a:pt x="0" y="1156050"/>
                    <a:pt x="0" y="1136849"/>
                  </a:cubicBezTo>
                  <a:lnTo>
                    <a:pt x="0" y="34768"/>
                  </a:lnTo>
                  <a:cubicBezTo>
                    <a:pt x="0" y="15566"/>
                    <a:pt x="15566" y="0"/>
                    <a:pt x="34768" y="0"/>
                  </a:cubicBezTo>
                  <a:close/>
                </a:path>
              </a:pathLst>
            </a:custGeom>
            <a:blipFill>
              <a:blip r:embed="rId2"/>
              <a:stretch>
                <a:fillRect l="-19890" t="0" r="-1989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316544" y="1523724"/>
            <a:ext cx="13321314" cy="8524112"/>
          </a:xfrm>
          <a:custGeom>
            <a:avLst/>
            <a:gdLst/>
            <a:ahLst/>
            <a:cxnLst/>
            <a:rect r="r" b="b" t="t" l="l"/>
            <a:pathLst>
              <a:path h="8524112" w="13321314">
                <a:moveTo>
                  <a:pt x="0" y="0"/>
                </a:moveTo>
                <a:lnTo>
                  <a:pt x="13321313" y="0"/>
                </a:lnTo>
                <a:lnTo>
                  <a:pt x="13321313" y="8524112"/>
                </a:lnTo>
                <a:lnTo>
                  <a:pt x="0" y="8524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9567" y="180975"/>
            <a:ext cx="7356873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2870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946778" y="1214756"/>
            <a:ext cx="14024337" cy="8973966"/>
          </a:xfrm>
          <a:custGeom>
            <a:avLst/>
            <a:gdLst/>
            <a:ahLst/>
            <a:cxnLst/>
            <a:rect r="r" b="b" t="t" l="l"/>
            <a:pathLst>
              <a:path h="8973966" w="14024337">
                <a:moveTo>
                  <a:pt x="0" y="0"/>
                </a:moveTo>
                <a:lnTo>
                  <a:pt x="14024337" y="0"/>
                </a:lnTo>
                <a:lnTo>
                  <a:pt x="14024337" y="8973966"/>
                </a:lnTo>
                <a:lnTo>
                  <a:pt x="0" y="897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9567" y="180975"/>
            <a:ext cx="7356873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2517" y="1152115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0" y="2075428"/>
            <a:ext cx="18382666" cy="7182872"/>
          </a:xfrm>
          <a:custGeom>
            <a:avLst/>
            <a:gdLst/>
            <a:ahLst/>
            <a:cxnLst/>
            <a:rect r="r" b="b" t="t" l="l"/>
            <a:pathLst>
              <a:path h="7182872" w="18382666">
                <a:moveTo>
                  <a:pt x="0" y="0"/>
                </a:moveTo>
                <a:lnTo>
                  <a:pt x="18382666" y="0"/>
                </a:lnTo>
                <a:lnTo>
                  <a:pt x="18382666" y="7182872"/>
                </a:lnTo>
                <a:lnTo>
                  <a:pt x="0" y="7182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3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9567" y="180975"/>
            <a:ext cx="7356873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9101" y="1028700"/>
            <a:ext cx="19166202" cy="9258300"/>
            <a:chOff x="0" y="0"/>
            <a:chExt cx="5047889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889" cy="2438400"/>
            </a:xfrm>
            <a:custGeom>
              <a:avLst/>
              <a:gdLst/>
              <a:ahLst/>
              <a:cxnLst/>
              <a:rect r="r" b="b" t="t" l="l"/>
              <a:pathLst>
                <a:path h="24384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2417799"/>
                  </a:lnTo>
                  <a:cubicBezTo>
                    <a:pt x="5047889" y="2429177"/>
                    <a:pt x="5038666" y="2438400"/>
                    <a:pt x="5027288" y="2438400"/>
                  </a:cubicBezTo>
                  <a:lnTo>
                    <a:pt x="20601" y="2438400"/>
                  </a:lnTo>
                  <a:cubicBezTo>
                    <a:pt x="9223" y="2438400"/>
                    <a:pt x="0" y="2429177"/>
                    <a:pt x="0" y="24177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F7F8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47889" cy="247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945165" y="4391283"/>
            <a:ext cx="5558984" cy="1890223"/>
            <a:chOff x="0" y="0"/>
            <a:chExt cx="1464094" cy="4978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094" cy="497837"/>
            </a:xfrm>
            <a:custGeom>
              <a:avLst/>
              <a:gdLst/>
              <a:ahLst/>
              <a:cxnLst/>
              <a:rect r="r" b="b" t="t" l="l"/>
              <a:pathLst>
                <a:path h="497837" w="1464094">
                  <a:moveTo>
                    <a:pt x="41781" y="0"/>
                  </a:moveTo>
                  <a:lnTo>
                    <a:pt x="1422314" y="0"/>
                  </a:lnTo>
                  <a:cubicBezTo>
                    <a:pt x="1433395" y="0"/>
                    <a:pt x="1444022" y="4402"/>
                    <a:pt x="1451857" y="12237"/>
                  </a:cubicBezTo>
                  <a:cubicBezTo>
                    <a:pt x="1459693" y="20073"/>
                    <a:pt x="1464094" y="30700"/>
                    <a:pt x="1464094" y="41781"/>
                  </a:cubicBezTo>
                  <a:lnTo>
                    <a:pt x="1464094" y="456056"/>
                  </a:lnTo>
                  <a:cubicBezTo>
                    <a:pt x="1464094" y="467137"/>
                    <a:pt x="1459693" y="477764"/>
                    <a:pt x="1451857" y="485599"/>
                  </a:cubicBezTo>
                  <a:cubicBezTo>
                    <a:pt x="1444022" y="493435"/>
                    <a:pt x="1433395" y="497837"/>
                    <a:pt x="1422314" y="497837"/>
                  </a:cubicBezTo>
                  <a:lnTo>
                    <a:pt x="41781" y="497837"/>
                  </a:lnTo>
                  <a:cubicBezTo>
                    <a:pt x="30700" y="497837"/>
                    <a:pt x="20073" y="493435"/>
                    <a:pt x="12237" y="485599"/>
                  </a:cubicBezTo>
                  <a:cubicBezTo>
                    <a:pt x="4402" y="477764"/>
                    <a:pt x="0" y="467137"/>
                    <a:pt x="0" y="456056"/>
                  </a:cubicBezTo>
                  <a:lnTo>
                    <a:pt x="0" y="41781"/>
                  </a:lnTo>
                  <a:cubicBezTo>
                    <a:pt x="0" y="30700"/>
                    <a:pt x="4402" y="20073"/>
                    <a:pt x="12237" y="12237"/>
                  </a:cubicBezTo>
                  <a:cubicBezTo>
                    <a:pt x="20073" y="4402"/>
                    <a:pt x="30700" y="0"/>
                    <a:pt x="4178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4094" cy="53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07608" y="4391283"/>
            <a:ext cx="6051692" cy="1890223"/>
            <a:chOff x="0" y="0"/>
            <a:chExt cx="1593861" cy="4978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3861" cy="497837"/>
            </a:xfrm>
            <a:custGeom>
              <a:avLst/>
              <a:gdLst/>
              <a:ahLst/>
              <a:cxnLst/>
              <a:rect r="r" b="b" t="t" l="l"/>
              <a:pathLst>
                <a:path h="497837" w="1593861">
                  <a:moveTo>
                    <a:pt x="38379" y="0"/>
                  </a:moveTo>
                  <a:lnTo>
                    <a:pt x="1555482" y="0"/>
                  </a:lnTo>
                  <a:cubicBezTo>
                    <a:pt x="1576678" y="0"/>
                    <a:pt x="1593861" y="17183"/>
                    <a:pt x="1593861" y="38379"/>
                  </a:cubicBezTo>
                  <a:lnTo>
                    <a:pt x="1593861" y="459458"/>
                  </a:lnTo>
                  <a:cubicBezTo>
                    <a:pt x="1593861" y="480654"/>
                    <a:pt x="1576678" y="497837"/>
                    <a:pt x="1555482" y="497837"/>
                  </a:cubicBezTo>
                  <a:lnTo>
                    <a:pt x="38379" y="497837"/>
                  </a:lnTo>
                  <a:cubicBezTo>
                    <a:pt x="17183" y="497837"/>
                    <a:pt x="0" y="480654"/>
                    <a:pt x="0" y="459458"/>
                  </a:cubicBezTo>
                  <a:lnTo>
                    <a:pt x="0" y="38379"/>
                  </a:lnTo>
                  <a:cubicBezTo>
                    <a:pt x="0" y="17183"/>
                    <a:pt x="17183" y="0"/>
                    <a:pt x="383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3861" cy="53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07608" y="7368077"/>
            <a:ext cx="6051692" cy="1890223"/>
            <a:chOff x="0" y="0"/>
            <a:chExt cx="1593861" cy="497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3861" cy="497837"/>
            </a:xfrm>
            <a:custGeom>
              <a:avLst/>
              <a:gdLst/>
              <a:ahLst/>
              <a:cxnLst/>
              <a:rect r="r" b="b" t="t" l="l"/>
              <a:pathLst>
                <a:path h="497837" w="1593861">
                  <a:moveTo>
                    <a:pt x="38379" y="0"/>
                  </a:moveTo>
                  <a:lnTo>
                    <a:pt x="1555482" y="0"/>
                  </a:lnTo>
                  <a:cubicBezTo>
                    <a:pt x="1576678" y="0"/>
                    <a:pt x="1593861" y="17183"/>
                    <a:pt x="1593861" y="38379"/>
                  </a:cubicBezTo>
                  <a:lnTo>
                    <a:pt x="1593861" y="459458"/>
                  </a:lnTo>
                  <a:cubicBezTo>
                    <a:pt x="1593861" y="480654"/>
                    <a:pt x="1576678" y="497837"/>
                    <a:pt x="1555482" y="497837"/>
                  </a:cubicBezTo>
                  <a:lnTo>
                    <a:pt x="38379" y="497837"/>
                  </a:lnTo>
                  <a:cubicBezTo>
                    <a:pt x="17183" y="497837"/>
                    <a:pt x="0" y="480654"/>
                    <a:pt x="0" y="459458"/>
                  </a:cubicBezTo>
                  <a:lnTo>
                    <a:pt x="0" y="38379"/>
                  </a:lnTo>
                  <a:cubicBezTo>
                    <a:pt x="0" y="17183"/>
                    <a:pt x="17183" y="0"/>
                    <a:pt x="383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93861" cy="53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45165" y="7368077"/>
            <a:ext cx="5558984" cy="1890223"/>
            <a:chOff x="0" y="0"/>
            <a:chExt cx="1464094" cy="4978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094" cy="497837"/>
            </a:xfrm>
            <a:custGeom>
              <a:avLst/>
              <a:gdLst/>
              <a:ahLst/>
              <a:cxnLst/>
              <a:rect r="r" b="b" t="t" l="l"/>
              <a:pathLst>
                <a:path h="497837" w="1464094">
                  <a:moveTo>
                    <a:pt x="41781" y="0"/>
                  </a:moveTo>
                  <a:lnTo>
                    <a:pt x="1422314" y="0"/>
                  </a:lnTo>
                  <a:cubicBezTo>
                    <a:pt x="1433395" y="0"/>
                    <a:pt x="1444022" y="4402"/>
                    <a:pt x="1451857" y="12237"/>
                  </a:cubicBezTo>
                  <a:cubicBezTo>
                    <a:pt x="1459693" y="20073"/>
                    <a:pt x="1464094" y="30700"/>
                    <a:pt x="1464094" y="41781"/>
                  </a:cubicBezTo>
                  <a:lnTo>
                    <a:pt x="1464094" y="456056"/>
                  </a:lnTo>
                  <a:cubicBezTo>
                    <a:pt x="1464094" y="467137"/>
                    <a:pt x="1459693" y="477764"/>
                    <a:pt x="1451857" y="485599"/>
                  </a:cubicBezTo>
                  <a:cubicBezTo>
                    <a:pt x="1444022" y="493435"/>
                    <a:pt x="1433395" y="497837"/>
                    <a:pt x="1422314" y="497837"/>
                  </a:cubicBezTo>
                  <a:lnTo>
                    <a:pt x="41781" y="497837"/>
                  </a:lnTo>
                  <a:cubicBezTo>
                    <a:pt x="30700" y="497837"/>
                    <a:pt x="20073" y="493435"/>
                    <a:pt x="12237" y="485599"/>
                  </a:cubicBezTo>
                  <a:cubicBezTo>
                    <a:pt x="4402" y="477764"/>
                    <a:pt x="0" y="467137"/>
                    <a:pt x="0" y="456056"/>
                  </a:cubicBezTo>
                  <a:lnTo>
                    <a:pt x="0" y="41781"/>
                  </a:lnTo>
                  <a:cubicBezTo>
                    <a:pt x="0" y="30700"/>
                    <a:pt x="4402" y="20073"/>
                    <a:pt x="12237" y="12237"/>
                  </a:cubicBezTo>
                  <a:cubicBezTo>
                    <a:pt x="20073" y="4402"/>
                    <a:pt x="30700" y="0"/>
                    <a:pt x="4178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BD6D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4094" cy="53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97913" y="3885737"/>
            <a:ext cx="1214563" cy="1011092"/>
            <a:chOff x="0" y="0"/>
            <a:chExt cx="839066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53064" y="3885737"/>
            <a:ext cx="1214563" cy="1011092"/>
            <a:chOff x="0" y="0"/>
            <a:chExt cx="839066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53064" y="6862531"/>
            <a:ext cx="1214563" cy="1011092"/>
            <a:chOff x="0" y="0"/>
            <a:chExt cx="839066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97913" y="6862531"/>
            <a:ext cx="1214563" cy="1011092"/>
            <a:chOff x="0" y="0"/>
            <a:chExt cx="839066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1739068"/>
            <a:ext cx="3570231" cy="7407822"/>
            <a:chOff x="0" y="0"/>
            <a:chExt cx="553122" cy="11476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3122" cy="1147666"/>
            </a:xfrm>
            <a:custGeom>
              <a:avLst/>
              <a:gdLst/>
              <a:ahLst/>
              <a:cxnLst/>
              <a:rect r="r" b="b" t="t" l="l"/>
              <a:pathLst>
                <a:path h="1147666" w="553122">
                  <a:moveTo>
                    <a:pt x="49875" y="0"/>
                  </a:moveTo>
                  <a:lnTo>
                    <a:pt x="503247" y="0"/>
                  </a:lnTo>
                  <a:cubicBezTo>
                    <a:pt x="530793" y="0"/>
                    <a:pt x="553122" y="22330"/>
                    <a:pt x="553122" y="49875"/>
                  </a:cubicBezTo>
                  <a:lnTo>
                    <a:pt x="553122" y="1097791"/>
                  </a:lnTo>
                  <a:cubicBezTo>
                    <a:pt x="553122" y="1111018"/>
                    <a:pt x="547868" y="1123704"/>
                    <a:pt x="538514" y="1133058"/>
                  </a:cubicBezTo>
                  <a:cubicBezTo>
                    <a:pt x="529161" y="1142411"/>
                    <a:pt x="516475" y="1147666"/>
                    <a:pt x="503247" y="1147666"/>
                  </a:cubicBezTo>
                  <a:lnTo>
                    <a:pt x="49875" y="1147666"/>
                  </a:lnTo>
                  <a:cubicBezTo>
                    <a:pt x="22330" y="1147666"/>
                    <a:pt x="0" y="1125336"/>
                    <a:pt x="0" y="1097791"/>
                  </a:cubicBezTo>
                  <a:lnTo>
                    <a:pt x="0" y="49875"/>
                  </a:lnTo>
                  <a:cubicBezTo>
                    <a:pt x="0" y="22330"/>
                    <a:pt x="22330" y="0"/>
                    <a:pt x="49875" y="0"/>
                  </a:cubicBezTo>
                  <a:close/>
                </a:path>
              </a:pathLst>
            </a:custGeom>
            <a:blipFill>
              <a:blip r:embed="rId2"/>
              <a:stretch>
                <a:fillRect l="-105616" t="0" r="-105616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174068" y="1870881"/>
            <a:ext cx="10642841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Methods &amp; Models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47330" y="4156360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02482" y="4156360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02482" y="7133154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47330" y="7133154"/>
            <a:ext cx="715728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17716" y="4530956"/>
            <a:ext cx="457495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Descriptive statistics and visualizations to compare wages across majors, sexes, age groups, and states.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1675158" y="4530956"/>
            <a:ext cx="511659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Multiple linear regression to examine associations with earnings while accounting for other factors.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1413431" y="8087479"/>
            <a:ext cx="555898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to examine employment status.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5317716" y="7825998"/>
            <a:ext cx="457495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t-test to compare mean earnings between Maryland and Virginia.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101" y="0"/>
            <a:ext cx="6084352" cy="1028700"/>
            <a:chOff x="0" y="0"/>
            <a:chExt cx="413135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1350" cy="698500"/>
            </a:xfrm>
            <a:custGeom>
              <a:avLst/>
              <a:gdLst/>
              <a:ahLst/>
              <a:cxnLst/>
              <a:rect r="r" b="b" t="t" l="l"/>
              <a:pathLst>
                <a:path h="698500" w="4131350">
                  <a:moveTo>
                    <a:pt x="4131350" y="349250"/>
                  </a:moveTo>
                  <a:lnTo>
                    <a:pt x="39281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928150" y="0"/>
                  </a:lnTo>
                  <a:lnTo>
                    <a:pt x="4131350" y="349250"/>
                  </a:lnTo>
                  <a:close/>
                </a:path>
              </a:pathLst>
            </a:custGeom>
            <a:solidFill>
              <a:srgbClr val="BB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0275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6546" y="3976873"/>
            <a:ext cx="1332777" cy="6074722"/>
            <a:chOff x="0" y="0"/>
            <a:chExt cx="351020" cy="15999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1020" cy="1599927"/>
            </a:xfrm>
            <a:custGeom>
              <a:avLst/>
              <a:gdLst/>
              <a:ahLst/>
              <a:cxnLst/>
              <a:rect r="r" b="b" t="t" l="l"/>
              <a:pathLst>
                <a:path h="1599927" w="351020">
                  <a:moveTo>
                    <a:pt x="0" y="0"/>
                  </a:moveTo>
                  <a:lnTo>
                    <a:pt x="351020" y="0"/>
                  </a:lnTo>
                  <a:lnTo>
                    <a:pt x="351020" y="1599927"/>
                  </a:lnTo>
                  <a:lnTo>
                    <a:pt x="0" y="1599927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1020" cy="163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05747" y="5124450"/>
            <a:ext cx="133277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756147" y="5162550"/>
            <a:ext cx="8460893" cy="4867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76546" y="6203990"/>
            <a:ext cx="133277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76546" y="7131117"/>
            <a:ext cx="133277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374142" y="1223463"/>
            <a:ext cx="8115300" cy="2562910"/>
            <a:chOff x="0" y="0"/>
            <a:chExt cx="1257272" cy="3970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272" cy="397062"/>
            </a:xfrm>
            <a:custGeom>
              <a:avLst/>
              <a:gdLst/>
              <a:ahLst/>
              <a:cxnLst/>
              <a:rect r="r" b="b" t="t" l="l"/>
              <a:pathLst>
                <a:path h="397062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375120"/>
                  </a:lnTo>
                  <a:cubicBezTo>
                    <a:pt x="1257272" y="380939"/>
                    <a:pt x="1254961" y="386520"/>
                    <a:pt x="1250846" y="390635"/>
                  </a:cubicBezTo>
                  <a:cubicBezTo>
                    <a:pt x="1246731" y="394750"/>
                    <a:pt x="1241150" y="397062"/>
                    <a:pt x="1235331" y="397062"/>
                  </a:cubicBezTo>
                  <a:lnTo>
                    <a:pt x="21942" y="397062"/>
                  </a:lnTo>
                  <a:cubicBezTo>
                    <a:pt x="16122" y="397062"/>
                    <a:pt x="10541" y="394750"/>
                    <a:pt x="6427" y="390635"/>
                  </a:cubicBezTo>
                  <a:cubicBezTo>
                    <a:pt x="2312" y="386520"/>
                    <a:pt x="0" y="380939"/>
                    <a:pt x="0" y="375120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3437" r="0" b="-5343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490939" y="2164054"/>
            <a:ext cx="648587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Milestones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4142" y="4306992"/>
            <a:ext cx="795986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33454" y="4306992"/>
            <a:ext cx="862482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Sep–Oct 10| Completed: Topic and Initial Data Exploration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756147" y="5457960"/>
            <a:ext cx="1156738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Oct 21-22 | Completed: Project Plan and Research Questions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756147" y="7502659"/>
            <a:ext cx="890654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Nov 9–20 | Tableau Dashboard and Statistical Models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756147" y="6480310"/>
            <a:ext cx="890654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Oct 26–Nov 6 | Data Preparation and Visualization Review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44942" y="5403985"/>
            <a:ext cx="795986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942" y="6480310"/>
            <a:ext cx="795986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03/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942" y="7331129"/>
            <a:ext cx="795986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04/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4942" y="8372474"/>
            <a:ext cx="79598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05/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4942" y="9394825"/>
            <a:ext cx="79598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7F8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06/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028700" y="8153399"/>
            <a:ext cx="133277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105747" y="9175750"/>
            <a:ext cx="1332777" cy="0"/>
          </a:xfrm>
          <a:prstGeom prst="line">
            <a:avLst/>
          </a:prstGeom>
          <a:ln cap="flat" w="38100">
            <a:solidFill>
              <a:srgbClr val="F7F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756147" y="9175750"/>
            <a:ext cx="8602136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2756147" y="8363084"/>
            <a:ext cx="8602136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2756147" y="7131117"/>
            <a:ext cx="8624829" cy="38096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2780070" y="8544059"/>
            <a:ext cx="890654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Nov 23–Dec 1 | Interpret Results and Complete the Report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2780070" y="9363075"/>
            <a:ext cx="890654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Dec 4–11 | Final Presentation and Submission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AutoShape 33" id="33"/>
          <p:cNvSpPr/>
          <p:nvPr/>
        </p:nvSpPr>
        <p:spPr>
          <a:xfrm flipV="true">
            <a:off x="2756147" y="6146935"/>
            <a:ext cx="8602136" cy="0"/>
          </a:xfrm>
          <a:prstGeom prst="line">
            <a:avLst/>
          </a:prstGeom>
          <a:ln cap="flat" w="38100">
            <a:solidFill>
              <a:srgbClr val="BBD6D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7404362"/>
            <a:ext cx="19166202" cy="3086100"/>
            <a:chOff x="0" y="0"/>
            <a:chExt cx="504788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7889" cy="812800"/>
            </a:xfrm>
            <a:custGeom>
              <a:avLst/>
              <a:gdLst/>
              <a:ahLst/>
              <a:cxnLst/>
              <a:rect r="r" b="b" t="t" l="l"/>
              <a:pathLst>
                <a:path h="812800" w="5047889">
                  <a:moveTo>
                    <a:pt x="20601" y="0"/>
                  </a:moveTo>
                  <a:lnTo>
                    <a:pt x="5027288" y="0"/>
                  </a:lnTo>
                  <a:cubicBezTo>
                    <a:pt x="5038666" y="0"/>
                    <a:pt x="5047889" y="9223"/>
                    <a:pt x="5047889" y="20601"/>
                  </a:cubicBezTo>
                  <a:lnTo>
                    <a:pt x="5047889" y="792199"/>
                  </a:lnTo>
                  <a:cubicBezTo>
                    <a:pt x="5047889" y="803577"/>
                    <a:pt x="5038666" y="812800"/>
                    <a:pt x="5027288" y="812800"/>
                  </a:cubicBezTo>
                  <a:lnTo>
                    <a:pt x="20601" y="812800"/>
                  </a:lnTo>
                  <a:cubicBezTo>
                    <a:pt x="9223" y="812800"/>
                    <a:pt x="0" y="803577"/>
                    <a:pt x="0" y="792199"/>
                  </a:cubicBezTo>
                  <a:lnTo>
                    <a:pt x="0" y="20601"/>
                  </a:lnTo>
                  <a:cubicBezTo>
                    <a:pt x="0" y="9223"/>
                    <a:pt x="9223" y="0"/>
                    <a:pt x="20601" y="0"/>
                  </a:cubicBezTo>
                  <a:close/>
                </a:path>
              </a:pathLst>
            </a:custGeom>
            <a:solidFill>
              <a:srgbClr val="D3EB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478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7198109"/>
            <a:ext cx="18288000" cy="0"/>
          </a:xfrm>
          <a:prstGeom prst="line">
            <a:avLst/>
          </a:prstGeom>
          <a:ln cap="flat" w="95250">
            <a:solidFill>
              <a:srgbClr val="3D9A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6902834"/>
            <a:ext cx="18288000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6607559"/>
            <a:ext cx="18288000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9822" y="6312284"/>
            <a:ext cx="18248178" cy="0"/>
          </a:xfrm>
          <a:prstGeom prst="line">
            <a:avLst/>
          </a:prstGeom>
          <a:ln cap="flat" w="95250">
            <a:solidFill>
              <a:srgbClr val="D3EB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246211" y="6692564"/>
            <a:ext cx="1214563" cy="1011092"/>
            <a:chOff x="0" y="0"/>
            <a:chExt cx="839066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9066" cy="698500"/>
            </a:xfrm>
            <a:custGeom>
              <a:avLst/>
              <a:gdLst/>
              <a:ahLst/>
              <a:cxnLst/>
              <a:rect r="r" b="b" t="t" l="l"/>
              <a:pathLst>
                <a:path h="698500" w="839066">
                  <a:moveTo>
                    <a:pt x="839066" y="349250"/>
                  </a:moveTo>
                  <a:lnTo>
                    <a:pt x="63586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5865" y="0"/>
                  </a:lnTo>
                  <a:lnTo>
                    <a:pt x="839066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61046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609067" y="6965575"/>
            <a:ext cx="488851" cy="423671"/>
          </a:xfrm>
          <a:custGeom>
            <a:avLst/>
            <a:gdLst/>
            <a:ahLst/>
            <a:cxnLst/>
            <a:rect r="r" b="b" t="t" l="l"/>
            <a:pathLst>
              <a:path h="423671" w="488851">
                <a:moveTo>
                  <a:pt x="0" y="0"/>
                </a:moveTo>
                <a:lnTo>
                  <a:pt x="488850" y="0"/>
                </a:lnTo>
                <a:lnTo>
                  <a:pt x="488850" y="423671"/>
                </a:lnTo>
                <a:lnTo>
                  <a:pt x="0" y="42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896490" y="1158425"/>
            <a:ext cx="2542488" cy="2090604"/>
            <a:chOff x="0" y="0"/>
            <a:chExt cx="849481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70217" y="2305300"/>
            <a:ext cx="2542488" cy="2090604"/>
            <a:chOff x="0" y="0"/>
            <a:chExt cx="849481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96490" y="3470276"/>
            <a:ext cx="2542488" cy="2090604"/>
            <a:chOff x="0" y="0"/>
            <a:chExt cx="849481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9481" cy="698500"/>
            </a:xfrm>
            <a:custGeom>
              <a:avLst/>
              <a:gdLst/>
              <a:ahLst/>
              <a:cxnLst/>
              <a:rect r="r" b="b" t="t" l="l"/>
              <a:pathLst>
                <a:path h="698500" w="849481">
                  <a:moveTo>
                    <a:pt x="849481" y="349250"/>
                  </a:moveTo>
                  <a:lnTo>
                    <a:pt x="64628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6281" y="0"/>
                  </a:lnTo>
                  <a:lnTo>
                    <a:pt x="849481" y="349250"/>
                  </a:lnTo>
                  <a:close/>
                </a:path>
              </a:pathLst>
            </a:custGeom>
            <a:solidFill>
              <a:srgbClr val="3D9A9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38100"/>
              <a:ext cx="62088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792970" y="1767643"/>
            <a:ext cx="749528" cy="759657"/>
          </a:xfrm>
          <a:custGeom>
            <a:avLst/>
            <a:gdLst/>
            <a:ahLst/>
            <a:cxnLst/>
            <a:rect r="r" b="b" t="t" l="l"/>
            <a:pathLst>
              <a:path h="759657" w="749528">
                <a:moveTo>
                  <a:pt x="0" y="0"/>
                </a:moveTo>
                <a:lnTo>
                  <a:pt x="749528" y="0"/>
                </a:lnTo>
                <a:lnTo>
                  <a:pt x="749528" y="759658"/>
                </a:lnTo>
                <a:lnTo>
                  <a:pt x="0" y="759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97254" y="2977878"/>
            <a:ext cx="711813" cy="762656"/>
          </a:xfrm>
          <a:custGeom>
            <a:avLst/>
            <a:gdLst/>
            <a:ahLst/>
            <a:cxnLst/>
            <a:rect r="r" b="b" t="t" l="l"/>
            <a:pathLst>
              <a:path h="762656" w="711813">
                <a:moveTo>
                  <a:pt x="0" y="0"/>
                </a:moveTo>
                <a:lnTo>
                  <a:pt x="711813" y="0"/>
                </a:lnTo>
                <a:lnTo>
                  <a:pt x="711813" y="762656"/>
                </a:lnTo>
                <a:lnTo>
                  <a:pt x="0" y="762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34061" y="4098293"/>
            <a:ext cx="867346" cy="728571"/>
          </a:xfrm>
          <a:custGeom>
            <a:avLst/>
            <a:gdLst/>
            <a:ahLst/>
            <a:cxnLst/>
            <a:rect r="r" b="b" t="t" l="l"/>
            <a:pathLst>
              <a:path h="728571" w="867346">
                <a:moveTo>
                  <a:pt x="0" y="0"/>
                </a:moveTo>
                <a:lnTo>
                  <a:pt x="867346" y="0"/>
                </a:lnTo>
                <a:lnTo>
                  <a:pt x="867346" y="728571"/>
                </a:lnTo>
                <a:lnTo>
                  <a:pt x="0" y="7285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767521"/>
            <a:ext cx="6485876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251201"/>
            <a:ext cx="6485876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 b="true">
                <a:solidFill>
                  <a:srgbClr val="2B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DAHYo2xFsCc</dc:identifier>
  <dcterms:modified xsi:type="dcterms:W3CDTF">2011-08-01T06:04:30Z</dcterms:modified>
  <cp:revision>1</cp:revision>
  <dc:title>Qian He</dc:title>
</cp:coreProperties>
</file>